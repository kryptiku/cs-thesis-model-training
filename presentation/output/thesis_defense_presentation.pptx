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2A4A"/>
                </a:solidFill>
                <a:latin typeface="Calibri"/>
              </a:defRPr>
            </a:pPr>
            <a:r>
              <a:t>Enhancing Autonomous Navigation Robustness</a:t>
            </a:r>
            <a:br/>
            <a:r>
              <a:t>in Unstructured Environments using</a:t>
            </a:r>
            <a:br/>
            <a:r>
              <a:t>Quantum-Seeded Procedural Maze 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2926080"/>
            <a:ext cx="4846320" cy="381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Batangas State University - College of Informatics and Computing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  <a:latin typeface="Calibri"/>
              </a:defRPr>
            </a:pPr>
            <a:r>
              <a:t>Antony, Aldrich Ryan V.  |  Baricante, Mark Angelo R.  |  Mirabel, Kevin Hans Aurick 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Adviser: John Richard M. Esguerra, MSCS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April 8,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Overview of the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2743200" cy="381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Procedural Content Generation (PCG) relies on PRNGs to create diverse training environments for Deep Reinforcement Learning agents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Quantum Random Number Generators (QRNGs) provide true randomness from quantum phenomena — but have never been tested in PCG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Research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Does the source of seed-level randomness affect maze structural diversity and DRL agent generalization?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97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Motivation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DRL agents overfit to training environments; structural randomization is underexplored compared to visual domain randomization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Research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2743200" cy="381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Existing PCG studies exclusively use PRNGs — no empirical evaluation of QRNG in procedural generation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Domain randomization research focuses on visual changes (textures, lighting, colors), not structural randomization of the environment itself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No study has tested whether true quantum entropy improves DRL zero-shot generalization in navigation tasks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114800"/>
            <a:ext cx="8503920" cy="1371600"/>
          </a:xfrm>
          <a:prstGeom prst="roundRect">
            <a:avLst/>
          </a:prstGeom>
          <a:solidFill>
            <a:srgbClr val="E8EE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B2A4A"/>
                </a:solidFill>
              </a:defRPr>
            </a:pPr>
            <a:r>
              <a:t>This study bridges the gap: first empirical benchmark of QRNG-seeded procedural generation for DRL training environments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Objectives of the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2743200" cy="381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General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Evaluate the impact of QRNG vs. PRNG seeds on procedural maze generation and DRL agent navigation robustness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Specific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1.  Determine how different sources of randomness (PRNGs and QRNGs) influence the structural metrics — path length, tortuosity, dead-end count — and overall diversity of maze training environments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2.  Determine the extent to which QRNG-based sources impact the training of autonomous navigation models in terms of success rate and rewards over episodes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3.  Evaluate the performance of DRL agents trained in QRNG-seeded vs. PRNG-seeded mazes on unseen environments, in terms of success rate, reward, efficiency, and generalization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Conceptual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2743200" cy="381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3474720" cy="1828800"/>
          </a:xfrm>
          <a:prstGeom prst="roundRect">
            <a:avLst/>
          </a:prstGeom>
          <a:solidFill>
            <a:srgbClr val="E8EE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B2A4A"/>
                </a:solidFill>
              </a:defRPr>
            </a:pPr>
            <a:r>
              <a:t>INPUT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PRNG Seeds (Mersenne Twister, 64-bit)</a:t>
            </a:r>
            <a:br/>
            <a:r>
              <a:t>• QRNG Seeds (ANU Quantum API, 64-bit)</a:t>
            </a:r>
            <a:br/>
            <a:r>
              <a:t>• Recursive Backtracking Algorithm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280160"/>
            <a:ext cx="3657600" cy="1828800"/>
          </a:xfrm>
          <a:prstGeom prst="roundRect">
            <a:avLst/>
          </a:prstGeom>
          <a:solidFill>
            <a:srgbClr val="E8EE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B2A4A"/>
                </a:solidFill>
              </a:defRPr>
            </a:pPr>
            <a:r>
              <a:t>PROCESS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Maze Generation &amp; Feature Extraction</a:t>
            </a:r>
            <a:br/>
            <a:r>
              <a:t>• Maze Structural Evaluation</a:t>
            </a:r>
            <a:br/>
            <a:r>
              <a:t>• DRL Model Training (A2C, DQN, PPO)</a:t>
            </a:r>
            <a:br/>
            <a:r>
              <a:t>• Generalization Testing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280160"/>
            <a:ext cx="3474720" cy="1828800"/>
          </a:xfrm>
          <a:prstGeom prst="roundRect">
            <a:avLst/>
          </a:prstGeom>
          <a:solidFill>
            <a:srgbClr val="E8EE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B2A4A"/>
                </a:solidFill>
              </a:defRPr>
            </a:pPr>
            <a:r>
              <a:t>OUTPUT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Maze Structure Comparison</a:t>
            </a:r>
            <a:br/>
            <a:r>
              <a:t>• RL Performance Evaluation</a:t>
            </a:r>
            <a:br/>
            <a:r>
              <a:t>• QRNG Suitability Assessment</a:t>
            </a:r>
            <a:br/>
            <a:r>
              <a:t>• Benchmarking Framework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886200" y="1920240"/>
            <a:ext cx="365760" cy="274320"/>
          </a:xfrm>
          <a:prstGeom prst="rightArrow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8001000" y="1920240"/>
            <a:ext cx="365760" cy="274320"/>
          </a:xfrm>
          <a:prstGeom prst="rightArrow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71600" y="3657600"/>
            <a:ext cx="4114800" cy="2286000"/>
          </a:xfrm>
          <a:prstGeom prst="roundRect">
            <a:avLst/>
          </a:prstGeom>
          <a:solidFill>
            <a:srgbClr val="FCF0E3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33333"/>
                </a:solidFill>
              </a:defRPr>
            </a:pPr>
            <a:r>
              <a:t>Control Group (Agent_PRNG)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Trained on PRNG-seeded mazes</a:t>
            </a:r>
            <a:br/>
            <a:r>
              <a:t>10M timesteps × 3 trials</a:t>
            </a:r>
            <a:br/>
            <a:r>
              <a:t>Baseline for comparison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3657600"/>
            <a:ext cx="4114800" cy="2286000"/>
          </a:xfrm>
          <a:prstGeom prst="roundRect">
            <a:avLst/>
          </a:prstGeom>
          <a:solidFill>
            <a:srgbClr val="E3EFF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33333"/>
                </a:solidFill>
              </a:defRPr>
            </a:pPr>
            <a:r>
              <a:t>Experimental Group (Agent_QRNG)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Trained on QRNG-seeded mazes</a:t>
            </a:r>
            <a:br/>
            <a:r>
              <a:t>10M timesteps × 3 trials</a:t>
            </a:r>
            <a:br/>
            <a:r>
              <a:t>Tests quantum entropy hypothesis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Methodology: Overall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2743200" cy="381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371600"/>
            <a:ext cx="411480" cy="41148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2801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Calibri"/>
              </a:defRPr>
            </a:pPr>
            <a:r>
              <a:t>Generate Seeds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2801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PRNG: Mersenne Twister (64-bit)</a:t>
            </a:r>
            <a:br/>
            <a:r>
              <a:t>QRNG: ANU API → bitwise concat to 64-bit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39"/>
            <a:ext cx="45720" cy="1097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8640" y="2121408"/>
            <a:ext cx="411480" cy="41148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029967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Calibri"/>
              </a:defRPr>
            </a:pPr>
            <a:r>
              <a:t>Validate Seed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029967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Shannon Entropy</a:t>
            </a:r>
            <a:br/>
            <a:r>
              <a:t>Autocorrelation (lag 0–100)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70048"/>
            <a:ext cx="45720" cy="1097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8640" y="2871216"/>
            <a:ext cx="411480" cy="41148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779776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Calibri"/>
              </a:defRPr>
            </a:pPr>
            <a:r>
              <a:t>Generate Mazes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9776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Recursive Backtracking</a:t>
            </a:r>
            <a:br/>
            <a:r>
              <a:t>20×20 grid, 71,800 per group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419856"/>
            <a:ext cx="45720" cy="1097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" y="3621024"/>
            <a:ext cx="411480" cy="41148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529584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Calibri"/>
              </a:defRPr>
            </a:pPr>
            <a:r>
              <a:t>Extract Maze 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529584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Path length, tortuosity, dead-ends</a:t>
            </a:r>
            <a:br/>
            <a:r>
              <a:t>Junction proportions, corridor analysis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169663"/>
            <a:ext cx="45720" cy="1097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8640" y="4370831"/>
            <a:ext cx="411480" cy="41148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279392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Calibri"/>
              </a:defRPr>
            </a:pPr>
            <a:r>
              <a:t>Train DRL Agents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279392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A2C, DQN, PPO</a:t>
            </a:r>
            <a:br/>
            <a:r>
              <a:t>10M timesteps, 3 trials each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919472"/>
            <a:ext cx="45720" cy="1097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48640" y="5120640"/>
            <a:ext cx="411480" cy="41148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0292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Calibri"/>
              </a:defRPr>
            </a:pPr>
            <a:r>
              <a:t>Evaluate Generalization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029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1,000 unseen mazes per condition</a:t>
            </a:r>
            <a:br/>
            <a:r>
              <a:t>Intra-domain + Cross-domain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669280"/>
            <a:ext cx="45720" cy="1097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48640" y="5870448"/>
            <a:ext cx="411480" cy="41148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77900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Calibri"/>
              </a:defRPr>
            </a:pPr>
            <a:r>
              <a:t>Statistical Comparison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5779008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Shapiro-Wilk → Mann-Whitney U</a:t>
            </a:r>
            <a:br/>
            <a:r>
              <a:t>PERMANOVA (p=0.05)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Model / Algorithm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2743200" cy="381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Environment Configuration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Maze: 20×20 grid, recursive backtracking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Observation: 10-dim vector (8 LiDAR rays + 2D target)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Action space: {Up, Down, Left, Right}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Episode limit: 500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Calibri"/>
              </a:defRPr>
            </a:pPr>
            <a:r>
              <a:t>Reward Structure: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Goal Achieved: +250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Wall Collision: -0.75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Step Penalty: -0.005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New Cell Exploration: +2.0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Progress Reward: +0.5 × improvement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Timeout: -7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188720"/>
            <a:ext cx="25400" cy="457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DRL Architectures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645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Input(10) → MLP Hidden Layers → Output(4 actions)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286000"/>
            <a:ext cx="5303520" cy="1188720"/>
          </a:xfrm>
          <a:prstGeom prst="roundRect">
            <a:avLst/>
          </a:prstGeom>
          <a:solidFill>
            <a:srgbClr val="F2F2F2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B2A4A"/>
                </a:solidFill>
              </a:defRPr>
            </a:pPr>
            <a:r>
              <a:t>A2C — Actor-Critic Hybrid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MLP(64, 64)</a:t>
            </a:r>
            <a:br/>
            <a:r>
              <a:t>LR: 7×10⁻⁴</a:t>
            </a:r>
            <a:br/>
            <a:r>
              <a:t>Entropy Coeff: 0.0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657600"/>
            <a:ext cx="5303520" cy="1188720"/>
          </a:xfrm>
          <a:prstGeom prst="roundRect">
            <a:avLst/>
          </a:prstGeom>
          <a:solidFill>
            <a:srgbClr val="F2F2F2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B2A4A"/>
                </a:solidFill>
              </a:defRPr>
            </a:pPr>
            <a:r>
              <a:t>DQN — Value-Based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MLP(256, 256)</a:t>
            </a:r>
            <a:br/>
            <a:r>
              <a:t>LR: 1×10⁻³</a:t>
            </a:r>
            <a:br/>
            <a:r>
              <a:t>ε-greedy: 1.0→0.05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5029200"/>
            <a:ext cx="5303520" cy="1188720"/>
          </a:xfrm>
          <a:prstGeom prst="roundRect">
            <a:avLst/>
          </a:prstGeom>
          <a:solidFill>
            <a:srgbClr val="F2F2F2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B2A4A"/>
                </a:solidFill>
              </a:defRPr>
            </a:pPr>
            <a:r>
              <a:t>PPO — Policy Gradient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MLP(256, 256)</a:t>
            </a:r>
            <a:br/>
            <a:r>
              <a:t>LR: 3×10⁻⁴</a:t>
            </a:r>
            <a:br/>
            <a:r>
              <a:t>Entropy Coeff: 0.01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5760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472C4"/>
                </a:solidFill>
                <a:latin typeface="Calibri"/>
              </a:defRPr>
            </a:pPr>
            <a:r>
              <a:t>Three DRL families to benchmark the randomness source, not the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Experimental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2743200" cy="381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71,800 PRNG seeds (Mersenne Twister) + 71,800 QRNG seeds (ANU Quantum API)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143,600 total 20×20 mazes generated via recursive backtracking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~35,000–40,000 training mazes per condition  |  1,000 unseen evaluation mazes per condition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Algorithm-Specific Configurations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3200400"/>
          <a:ext cx="7315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381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DQN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A2C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PPO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Learning Rate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 × 10⁻³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7 × 10⁻⁴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 × 10⁻⁴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Batch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N/A (rollout)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512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Network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MLP(256, 256)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MLP(64, 64)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MLP(256, 256)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Exploration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ε-greedy (1.0→0.05)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Entropy: 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Entropy: 0.01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Timesteps / Trials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10M / 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10M / 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10M / 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669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Tools: Python  |  Stable-Baselines3  |  Gymnasium  |  scipy.stats  |  ANU Quantum Random Number API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Maze Structural Analysis: PRNG vs QRNG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2743200" cy="381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istogram_structu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315200" cy="29260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0" y="1188720"/>
            <a:ext cx="4114800" cy="2011680"/>
          </a:xfrm>
          <a:prstGeom prst="roundRect">
            <a:avLst/>
          </a:prstGeom>
          <a:solidFill>
            <a:srgbClr val="F2F2F2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B2A4A"/>
                </a:solidFill>
              </a:defRPr>
            </a:pPr>
            <a:r>
              <a:t>Key Metrics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Path Length: PRNG μ=87.50 | QRNG μ=87.51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Tortuosity: Both μ=2.57, Md=2.47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Dead-Ends: Both μ=11.84, Md=12.00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3383280"/>
            <a:ext cx="4114800" cy="1645920"/>
          </a:xfrm>
          <a:prstGeom prst="roundRect">
            <a:avLst/>
          </a:prstGeom>
          <a:solidFill>
            <a:srgbClr val="E8EEF7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B2A4A"/>
                </a:solidFill>
              </a:defRPr>
            </a:pPr>
            <a:r>
              <a:t>Statistical Validation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Mann-Whitney U: all p &gt; 0.05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PERMANOVA: p = 0.7493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ERA Hull: PRNG=0.0131, QRNG=0.0125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572000"/>
            <a:ext cx="11064240" cy="640080"/>
          </a:xfrm>
          <a:prstGeom prst="roundRect">
            <a:avLst/>
          </a:prstGeom>
          <a:solidFill>
            <a:srgbClr val="1B2A4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The maze generation algorithm — not the seed source — determines structural output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DRL Agent Performance: QRNG vs PRNG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2743200" cy="381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Calibri"/>
              </a:defRPr>
            </a:pPr>
            <a:r>
              <a:t>PPO Training Curves (Success Rate)</a:t>
            </a:r>
          </a:p>
        </p:txBody>
      </p:sp>
      <p:pic>
        <p:nvPicPr>
          <p:cNvPr id="6" name="Picture 5" descr="success_rate_pr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3840480" cy="2103120"/>
          </a:xfrm>
          <a:prstGeom prst="rect">
            <a:avLst/>
          </a:prstGeom>
        </p:spPr>
      </p:pic>
      <p:pic>
        <p:nvPicPr>
          <p:cNvPr id="7" name="Picture 6" descr="success_rate_qr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463040"/>
            <a:ext cx="3840480" cy="2103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5661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PRNG: Higher variance, 1 trial collapsed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5661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QRNG: Tighter clustering, consistent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31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Calibri"/>
              </a:defRPr>
            </a:pPr>
            <a:r>
              <a:t>Generalization Evaluation (Intra vs Cross-Domain)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429768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26125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Intra SR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Cross SR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Gap (pp)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A2C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61.20%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60.30%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+0.90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A2C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QRNG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58.70%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59.50%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-0.80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DQN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11.03%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12.37%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-1.33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DQN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QRNG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9.80%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8.97%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+2.57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PPO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73.27%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71.53%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+1.74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125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QRNG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72.43%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74.00%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-1.57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Key Findings &amp; Interpretation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2743200" cy="381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474720" cy="4114800"/>
          </a:xfrm>
          <a:prstGeom prst="roundRect">
            <a:avLst/>
          </a:prstGeom>
          <a:solidFill>
            <a:srgbClr val="E3EFFC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2A4A"/>
                </a:solidFill>
                <a:latin typeface="Calibri"/>
              </a:defRPr>
            </a:pPr>
            <a:r>
              <a:t>What Improved?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3108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QRNG-trained agents showed tighter inter-trial convergence (PPO, A2C)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QRNG-trained PPO showed slight negative generalization gap (-1.57 pp) — marginally better cross-domain transfer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371600"/>
            <a:ext cx="3474720" cy="4114800"/>
          </a:xfrm>
          <a:prstGeom prst="roundRect">
            <a:avLst/>
          </a:prstGeom>
          <a:solidFill>
            <a:srgbClr val="FCF0E3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14630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2A4A"/>
                </a:solidFill>
                <a:latin typeface="Calibri"/>
              </a:defRPr>
            </a:pPr>
            <a:r>
              <a:t>Why No Significant</a:t>
            </a:r>
            <a:br/>
            <a:r>
              <a:t>Difference?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286000"/>
            <a:ext cx="3108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Recursive backtracking algorithm acts as a structural bottleneck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Constrains output diversity regardless of seed entropy quality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Both seed sources passed identical randomness validation (Shannon entropy = 1.0)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371600"/>
            <a:ext cx="3474720" cy="4114800"/>
          </a:xfrm>
          <a:prstGeom prst="roundRect">
            <a:avLst/>
          </a:prstGeom>
          <a:solidFill>
            <a:srgbClr val="F5E6E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9" y="14630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2A4A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9" y="2286000"/>
            <a:ext cx="3108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Limited to 20×20 2D mazes and one generation algorithm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DQN poorly suited to partial observability (LiDAR-based POMDP)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QRNG constrained by API rate limits (71,800 seeds)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Implementation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2743200" cy="381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ra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760720" cy="4572000"/>
          </a:xfrm>
          <a:prstGeom prst="rect">
            <a:avLst/>
          </a:prstGeom>
        </p:spPr>
      </p:pic>
      <p:pic>
        <p:nvPicPr>
          <p:cNvPr id="6" name="Picture 5" descr="boxplot_structu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669280" cy="2560320"/>
          </a:xfrm>
          <a:prstGeom prst="rect">
            <a:avLst/>
          </a:prstGeom>
        </p:spPr>
      </p:pic>
      <p:pic>
        <p:nvPicPr>
          <p:cNvPr id="7" name="Picture 6" descr="training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3931920"/>
            <a:ext cx="566928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Conclusions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2743200" cy="381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11064240" cy="1143000"/>
          </a:xfrm>
          <a:prstGeom prst="roundRect">
            <a:avLst/>
          </a:prstGeom>
          <a:solidFill>
            <a:srgbClr val="E3EFFC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B2A4A"/>
                </a:solidFill>
              </a:defRPr>
            </a:pPr>
            <a:r>
              <a:t>Objective 1: Structural Diversity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Fail to reject H₀ — No significant structural difference between PRNG and QRNG mazes</a:t>
            </a:r>
            <a:br/>
            <a:r>
              <a:t>(Mann-Whitney U: all p &gt; 0.05, PERMANOVA: p = 0.7493)</a:t>
            </a:r>
            <a:br/>
            <a:r>
              <a:t>The generation algorithm is the primary determinant of structural output.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11064240" cy="1143000"/>
          </a:xfrm>
          <a:prstGeom prst="roundRect">
            <a:avLst/>
          </a:prstGeom>
          <a:solidFill>
            <a:srgbClr val="FCF0E3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B2A4A"/>
                </a:solidFill>
              </a:defRPr>
            </a:pPr>
            <a:r>
              <a:t>Objective 2: Training Impact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Fail to reject H₀ — Both seed conditions produced comparable training success rates and reward progression across A2C, DQN, and PPO over 10M timesteps.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840479"/>
            <a:ext cx="11064240" cy="1143000"/>
          </a:xfrm>
          <a:prstGeom prst="roundRect">
            <a:avLst/>
          </a:prstGeom>
          <a:solidFill>
            <a:srgbClr val="E8F5E3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B2A4A"/>
                </a:solidFill>
              </a:defRPr>
            </a:pPr>
            <a:r>
              <a:t>Objective 3: Generalization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Fail to reject H₀ — All generalization gaps within ±2.6 percentage points across all architectures. Seed-level randomness has no measurable impact on zero-shot generalization.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303520"/>
            <a:ext cx="11064240" cy="73152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The recursive backtracking algorithm — not the entropy source — is the critical bottleneck for structural diversity in procedural maze generation.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2A4A"/>
                </a:solidFill>
                <a:latin typeface="Calibri"/>
              </a:defRPr>
            </a:pPr>
            <a:r>
              <a:t>Recommendations for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2743200" cy="381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463040"/>
            <a:ext cx="365760" cy="36576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Use QRNG directly in maze generation via custom Fisher-Yates shuffle — bypass the Mersenne Twister intermediary entirely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423160"/>
            <a:ext cx="365760" cy="36576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Test alternative generation algorithms (Wilson's, Prim's) that impose fewer structural constraints on output diversity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383280"/>
            <a:ext cx="365760" cy="36576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918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Scale to larger mazes (30×30, 40×40) where structural memorization becomes harder and seed entropy may matter more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43400"/>
            <a:ext cx="365760" cy="36576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2519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Replace DQN with DRQN (recurrent variant) to fairly evaluate value-based methods under partial observability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03520"/>
            <a:ext cx="365760" cy="36576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212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Investigate QRNG's training stability effect — the tighter PPO/A2C convergence clustering warrants study with 10+ trials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B2A4A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200400"/>
            <a:ext cx="3931920" cy="381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  <a:latin typeface="Calibri"/>
              </a:defRPr>
            </a:pPr>
            <a:r>
              <a:t>Antony, Aldrich Ryan V.  |  Baricante, Mark Angelo R.  |  Mirabel, Kevin Hans Aurick 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Adviser: John Richard M. Esguerra, MSCS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72C4"/>
                </a:solidFill>
                <a:latin typeface="Calibri"/>
              </a:defRPr>
            </a:pPr>
            <a:r>
              <a:t>We are ready for your questions.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