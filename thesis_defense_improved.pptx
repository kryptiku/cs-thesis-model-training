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10972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960620"/>
            <a:ext cx="9144000" cy="9144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4008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Enhancing Autonomous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Navigation Robustness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Unstructured Environments using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Quantum-Seeded Procedural Maze Generation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3474720"/>
            <a:ext cx="2286000" cy="0"/>
          </a:xfrm>
          <a:prstGeom prst="line">
            <a:avLst/>
          </a:prstGeom>
          <a:noFill/>
          <a:ln w="31750">
            <a:solidFill>
              <a:srgbClr val="F2A9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Batangas State University — College of Informatics and Computing Sciences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023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Antony, Aldrich Ryan V.  ·  Baricante, Mark Angelo R.  ·  Mirabel, Kevin Hans Aurick 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4343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Adviser: John Richard M. Esguerra, MSCS   ·   April 8,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 of the Study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24688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88720"/>
            <a:ext cx="2468880" cy="54864"/>
          </a:xfrm>
          <a:prstGeom prst="rect">
            <a:avLst/>
          </a:prstGeom>
          <a:solidFill>
            <a:srgbClr val="1B3A6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4630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05840" y="2286000"/>
            <a:ext cx="1920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PCG relies on PRNGs to create diverse DRL training environments.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QRNGs provide true randomness from quantum phenomena — but have never been tested in PCG.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83280" y="1188720"/>
            <a:ext cx="24688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383280" y="1188720"/>
            <a:ext cx="2468880" cy="54864"/>
          </a:xfrm>
          <a:prstGeom prst="rect">
            <a:avLst/>
          </a:prstGeom>
          <a:solidFill>
            <a:srgbClr val="1B3A6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46304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5760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Problem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657600" y="2286000"/>
            <a:ext cx="1920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source of seed-level randomness affect maze structural diversity and DRL agent generalization?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035040" y="1188720"/>
            <a:ext cx="24688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035040" y="1188720"/>
            <a:ext cx="2468880" cy="54864"/>
          </a:xfrm>
          <a:prstGeom prst="rect">
            <a:avLst/>
          </a:prstGeom>
          <a:solidFill>
            <a:srgbClr val="1B3A6B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6304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0936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6309360" y="2286000"/>
            <a:ext cx="1920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DRL agents overfit to training environments. Structural randomization is underexplored vs. visual domain randomization.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88720"/>
            <a:ext cx="54864" cy="7772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54480" y="128016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PCG studies exclusively use PRNGs — no empirical evaluation of QRNG in procedural generation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14884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148840"/>
            <a:ext cx="54864" cy="7772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54480" y="224028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randomization research focuses on visual changes (textures, lighting, colors), not structural randomization of the environment itself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10896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3108960"/>
            <a:ext cx="54864" cy="7772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54480" y="320040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study has tested whether true quantum entropy improves DRL zero-shot generalization in navigation tasks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371600" y="4114800"/>
            <a:ext cx="6400800" cy="64008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16" name="Shape 14"/>
          <p:cNvSpPr/>
          <p:nvPr/>
        </p:nvSpPr>
        <p:spPr>
          <a:xfrm>
            <a:off x="1371600" y="4114800"/>
            <a:ext cx="54864" cy="64008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7" name="Text 15"/>
          <p:cNvSpPr/>
          <p:nvPr/>
        </p:nvSpPr>
        <p:spPr>
          <a:xfrm>
            <a:off x="1645920" y="411480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 bridges the gap: first empirical benchmark of QRNG-seeded procedural generation for DRL training environments.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of the Study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8229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143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 Objective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" y="14630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impact of QRNG vs. PRNG seeds on procedural maze generation and DRL agent navigation robustness.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71600" y="2331720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how different sources of randomness influence maze structural metrics — path length, tortuosity, dead-end count — and overall diversity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371600" y="3063240"/>
            <a:ext cx="7040880" cy="0"/>
          </a:xfrm>
          <a:prstGeom prst="line">
            <a:avLst/>
          </a:prstGeom>
          <a:noFill/>
          <a:ln w="6350">
            <a:solidFill>
              <a:srgbClr val="D5DC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1546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371600" y="3200400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the extent to which QRNG-based sources impact the training of autonomous navigation models in terms of success rate and rewards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371600" y="3931920"/>
            <a:ext cx="7040880" cy="0"/>
          </a:xfrm>
          <a:prstGeom prst="line">
            <a:avLst/>
          </a:prstGeom>
          <a:noFill/>
          <a:ln w="6350">
            <a:solidFill>
              <a:srgbClr val="D5DC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02336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371600" y="4069080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performance of DRL agents trained in QRNG-seeded vs. PRNG-seeded mazes on unseen environments, in terms of generalization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Conceptual Framework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377440" cy="1828800"/>
          </a:xfrm>
          <a:prstGeom prst="rect">
            <a:avLst/>
          </a:prstGeom>
          <a:solidFill>
            <a:srgbClr val="E8EDF5"/>
          </a:solidFill>
          <a:ln/>
          <a:effectLst>
            <a:outerShdw sx="100000" sy="100000" kx="0" ky="0" algn="bl" rotWithShape="0" blurRad="50800" dist="12700" dir="8100000">
              <a:srgbClr val="000000">
                <a:alpha val="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80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PRNG Seeds (Mersenne Twister, 64-bit)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QRNG Seeds (ANU Quantum API, 64-bit)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Backtracking Algorithm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1800" y="1828800"/>
            <a:ext cx="320040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926080" y="1783080"/>
            <a:ext cx="411480" cy="411480"/>
          </a:xfrm>
          <a:prstGeom prst="ellipse">
            <a:avLst/>
          </a:prstGeom>
          <a:solidFill>
            <a:srgbClr val="1B3A6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088" y="1847088"/>
            <a:ext cx="274320" cy="2743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474720" y="1188720"/>
            <a:ext cx="23774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3657600" y="1280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657600" y="164592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Maze Generation &amp; Feature Extraction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Maze Structural Evaluation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DRL Model Training (A2C, DQN, PPO)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 Testing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989320" y="1783080"/>
            <a:ext cx="411480" cy="411480"/>
          </a:xfrm>
          <a:prstGeom prst="ellipse">
            <a:avLst/>
          </a:prstGeom>
          <a:solidFill>
            <a:srgbClr val="1B3A6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328" y="1847088"/>
            <a:ext cx="274320" cy="27432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492240" y="1188720"/>
            <a:ext cx="2377440" cy="1828800"/>
          </a:xfrm>
          <a:prstGeom prst="rect">
            <a:avLst/>
          </a:prstGeom>
          <a:solidFill>
            <a:srgbClr val="E8EDF5"/>
          </a:solidFill>
          <a:ln/>
          <a:effectLst>
            <a:outerShdw sx="100000" sy="100000" kx="0" ky="0" algn="bl" rotWithShape="0" blurRad="50800" dist="12700" dir="8100000">
              <a:srgbClr val="000000">
                <a:alpha val="4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6675120" y="1280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675120" y="164592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Maze Structure Comparison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Performance Evaluation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QRNG Suitability Assessment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Framework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14400" y="3383280"/>
            <a:ext cx="32918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3383280"/>
            <a:ext cx="3291840" cy="54864"/>
          </a:xfrm>
          <a:prstGeom prst="rect">
            <a:avLst/>
          </a:prstGeom>
          <a:solidFill>
            <a:srgbClr val="5A6A85"/>
          </a:solidFill>
          <a:ln/>
        </p:spPr>
      </p:sp>
      <p:sp>
        <p:nvSpPr>
          <p:cNvPr id="19" name="Text 14"/>
          <p:cNvSpPr/>
          <p:nvPr/>
        </p:nvSpPr>
        <p:spPr>
          <a:xfrm>
            <a:off x="1097280" y="3520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Group (Agent_PRNG)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097280" y="38404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PRNG-seeded mazes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32M timesteps × 3 trials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for comparison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937760" y="3383280"/>
            <a:ext cx="32918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937760" y="3383280"/>
            <a:ext cx="3291840" cy="54864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3" name="Text 18"/>
          <p:cNvSpPr/>
          <p:nvPr/>
        </p:nvSpPr>
        <p:spPr>
          <a:xfrm>
            <a:off x="5120640" y="3520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Group (Agent_QRNG)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5120640" y="38404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QRNG-seeded mazes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32M timesteps × 3 trials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quantum-entropy hypothesis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Pipeline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365760" cy="36576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8016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 Seeds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40480" y="10515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B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PRNG: Mersenne Twister (64-bit)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B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QRNG: ANU API → bitwise circuit to 64-bit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280160" y="1554480"/>
            <a:ext cx="7406640" cy="0"/>
          </a:xfrm>
          <a:prstGeom prst="line">
            <a:avLst/>
          </a:prstGeom>
          <a:noFill/>
          <a:ln w="6350">
            <a:solidFill>
              <a:srgbClr val="142D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627632"/>
            <a:ext cx="365760" cy="36576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627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15819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Seed Quality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40480" y="158191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B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Shannon Entropy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B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Autocorrelation (lag 0–300)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280160" y="2084832"/>
            <a:ext cx="7406640" cy="0"/>
          </a:xfrm>
          <a:prstGeom prst="line">
            <a:avLst/>
          </a:prstGeom>
          <a:noFill/>
          <a:ln w="6350">
            <a:solidFill>
              <a:srgbClr val="142D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2157984"/>
            <a:ext cx="365760" cy="36576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157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211226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 Mazes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40480" y="211226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B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Backtracking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B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20×20 grid, 71,800 per group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280160" y="2615184"/>
            <a:ext cx="7406640" cy="0"/>
          </a:xfrm>
          <a:prstGeom prst="line">
            <a:avLst/>
          </a:prstGeom>
          <a:noFill/>
          <a:ln w="6350">
            <a:solidFill>
              <a:srgbClr val="142D5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2688336"/>
            <a:ext cx="365760" cy="36576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2688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80160" y="264261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 Maze Metrics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840480" y="264261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B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length, tortuosity, dead-ends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B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Junction proportions, corridor analysis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280160" y="3145536"/>
            <a:ext cx="7406640" cy="0"/>
          </a:xfrm>
          <a:prstGeom prst="line">
            <a:avLst/>
          </a:prstGeom>
          <a:noFill/>
          <a:ln w="6350">
            <a:solidFill>
              <a:srgbClr val="142D5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3218688"/>
            <a:ext cx="365760" cy="36576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218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80160" y="31729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DRL Agents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840480" y="317296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B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A2C, DQN, PPO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B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32M timesteps, 3 trials each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280160" y="3675888"/>
            <a:ext cx="7406640" cy="0"/>
          </a:xfrm>
          <a:prstGeom prst="line">
            <a:avLst/>
          </a:prstGeom>
          <a:noFill/>
          <a:ln w="6350">
            <a:solidFill>
              <a:srgbClr val="142D5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" y="3749040"/>
            <a:ext cx="365760" cy="36576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280160" y="3703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 Generalization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840480" y="37033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B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unseen mazes per condition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B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Intra-domain + Cross-domain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280160" y="4206240"/>
            <a:ext cx="7406640" cy="0"/>
          </a:xfrm>
          <a:prstGeom prst="line">
            <a:avLst/>
          </a:prstGeom>
          <a:noFill/>
          <a:ln w="6350">
            <a:solidFill>
              <a:srgbClr val="142D5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1520" y="4279392"/>
            <a:ext cx="365760" cy="36576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4279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280160" y="42336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Comparison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840480" y="423367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B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Shapiro-Wilk → Mann-Whitney U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B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test (p&lt;0.05)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&amp; Algorithm Design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4114800" cy="54864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 Configuration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Maze: 20×20 grid, recursive backtracking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Observation: 10-dim vector (8 LiDAR rays + 2 goals)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space: {Up, Down, Left, Right}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Episodes: 32M timesteps per training run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Reward Structure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3375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Achieved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0" y="33375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+100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5478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Collision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0" y="35478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-0.75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7581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Penalty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0" y="375818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-0.065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39684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Cell Exploration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43200" y="396849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+1.5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417880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Reward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0" y="417880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43891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0" y="43891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-7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1097280"/>
            <a:ext cx="40233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1097280"/>
            <a:ext cx="4023360" cy="54864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2" name="Text 20"/>
          <p:cNvSpPr/>
          <p:nvPr/>
        </p:nvSpPr>
        <p:spPr>
          <a:xfrm>
            <a:off x="5120640" y="1280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DRL Architectures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120640" y="1737360"/>
            <a:ext cx="822960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4" name="Text 22"/>
          <p:cNvSpPr/>
          <p:nvPr/>
        </p:nvSpPr>
        <p:spPr>
          <a:xfrm>
            <a:off x="5120640" y="17373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A2C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035040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Actor-Critic Hybrid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20640" y="210312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MLP(64, 64)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LR: 7×10⁻⁴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Coeff: 0.0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120640" y="2788920"/>
            <a:ext cx="822960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8" name="Text 26"/>
          <p:cNvSpPr/>
          <p:nvPr/>
        </p:nvSpPr>
        <p:spPr>
          <a:xfrm>
            <a:off x="5120640" y="27889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DQN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035040" y="2788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Value-Based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20640" y="315468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MLP(64, 64)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LR: 1×10⁻⁴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ε-greedy: 1.0→0.05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120640" y="3840480"/>
            <a:ext cx="822960" cy="3200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2" name="Text 30"/>
          <p:cNvSpPr/>
          <p:nvPr/>
        </p:nvSpPr>
        <p:spPr>
          <a:xfrm>
            <a:off x="5120640" y="38404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PPO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035040" y="3840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Gradient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20640" y="420624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MLP(256, 256)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LR: 3×10⁻⁴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B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Entropy: 0.0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Setup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97280"/>
            <a:ext cx="54864" cy="10972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143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417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71,800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0584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PRNG seeds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566160" y="1417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71,800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56616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QRNG seeds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26480" y="1417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143,600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12648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20×20 mazes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468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Algorithm-Specific Configurations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834640"/>
          <a:ext cx="76809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1828800"/>
                <a:gridCol w="17373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DQN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1×10⁻⁴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7×10⁻⁴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3×10⁻⁴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(rollout)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MLP(64, 256)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MLP(64, 64)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MLP(256, 256)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ε-greedy (1.0→0.05)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Entropy: 0.0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Entropy: 0.0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Timesteps / Trials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32M /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32M /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32M /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Python  |  Stable-Baselines3  |  Gymnasium  |  numpy/stats  |  ANU Quantum Random Number API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Maze Structural Analysis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0" y="2743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PRNG vs QRNG</a:t>
            </a:r>
            <a:endParaRPr lang="en-US" sz="2800" dirty="0"/>
          </a:p>
        </p:txBody>
      </p:sp>
      <p:pic>
        <p:nvPicPr>
          <p:cNvPr id="4" name="Image 0" descr="/sessions/cool-compassionate-sagan/images/image1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585216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0" y="914400"/>
            <a:ext cx="24688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0" y="914400"/>
            <a:ext cx="2468880" cy="54864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7" name="Text 4"/>
          <p:cNvSpPr/>
          <p:nvPr/>
        </p:nvSpPr>
        <p:spPr>
          <a:xfrm>
            <a:off x="6583680" y="1051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Metrics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583680" y="13716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Length: PRNG μ=87.50 | QRNG μ=87.51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Tortuosity: Both μ≈2.57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Ends: Both μ=11.84, Md=12.00</a:t>
            </a:r>
            <a:endParaRPr lang="en-US" sz="900" dirty="0"/>
          </a:p>
        </p:txBody>
      </p:sp>
      <p:pic>
        <p:nvPicPr>
          <p:cNvPr id="9" name="Image 1" descr="/sessions/cool-compassionate-sagan/images/image5-1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926080"/>
            <a:ext cx="5852160" cy="13716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400800" y="2926080"/>
            <a:ext cx="24688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400800" y="2926080"/>
            <a:ext cx="2468880" cy="54864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2" name="Text 8"/>
          <p:cNvSpPr/>
          <p:nvPr/>
        </p:nvSpPr>
        <p:spPr>
          <a:xfrm>
            <a:off x="6583680" y="3063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Validation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583680" y="33832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Mann-Whitney U: p&gt;0.05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Permutation: p&gt;0.05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test: PRNG=0.0131, QRNG=0.0125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significant structural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detected.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731520" y="4480560"/>
            <a:ext cx="7680960" cy="4572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5" name="Text 11"/>
          <p:cNvSpPr/>
          <p:nvPr/>
        </p:nvSpPr>
        <p:spPr>
          <a:xfrm>
            <a:off x="914400" y="4480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maze generation algorithm — not the seed source — determines structural output.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DRL Agent Performance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0" y="2743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QRNG vs PRNG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PPO Training Curves (Success Rate)</a:t>
            </a:r>
            <a:endParaRPr lang="en-US" sz="1300" dirty="0"/>
          </a:p>
        </p:txBody>
      </p:sp>
      <p:pic>
        <p:nvPicPr>
          <p:cNvPr id="5" name="Image 0" descr="/sessions/cool-compassionate-sagan/images/image2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3931920" cy="137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4688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PRNG: higher variance, 1 trial collapsed</a:t>
            </a:r>
            <a:endParaRPr lang="en-US" sz="900" dirty="0"/>
          </a:p>
        </p:txBody>
      </p:sp>
      <p:pic>
        <p:nvPicPr>
          <p:cNvPr id="7" name="Image 1" descr="/sessions/cool-compassionate-sagan/images/image3-1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97280"/>
            <a:ext cx="3931920" cy="1371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754880" y="24688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QRNG: tighter clustering, consistent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731520" y="28803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Generalization Evaluation (Intra vs Cross-Domain)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200400"/>
          <a:ext cx="76809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097280"/>
                <a:gridCol w="1828800"/>
                <a:gridCol w="1828800"/>
                <a:gridCol w="16459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Intra SR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 SR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(pct)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51.23%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-8.68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QRNG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58.70%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59.03%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DQN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DQN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QRNG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+1.73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72.43%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QRNG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72.43%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&amp; Interpretation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97480" cy="3474720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2697480" cy="54864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25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Improved?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QRNG-trained agents showed tighter inter-trial convergence (PPO, A2C)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QRNG-source PPO showed slight negative generalization gap (~1.57 pct) — marginally better cross-domain transfer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097280"/>
            <a:ext cx="2697480" cy="3474720"/>
          </a:xfrm>
          <a:prstGeom prst="rect">
            <a:avLst/>
          </a:prstGeom>
          <a:solidFill>
            <a:srgbClr val="EDF1F7"/>
          </a:solidFill>
          <a:ln/>
        </p:spPr>
      </p:sp>
      <p:sp>
        <p:nvSpPr>
          <p:cNvPr id="8" name="Shape 6"/>
          <p:cNvSpPr/>
          <p:nvPr/>
        </p:nvSpPr>
        <p:spPr>
          <a:xfrm>
            <a:off x="3337560" y="1097280"/>
            <a:ext cx="2697480" cy="54864"/>
          </a:xfrm>
          <a:prstGeom prst="rect">
            <a:avLst/>
          </a:prstGeom>
          <a:solidFill>
            <a:srgbClr val="5A6A85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1325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 Significant Difference?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20440" y="178308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backtracking algorithm acts as a structural bottleneck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Constrains output diversity regardless of seed entropy sufficiency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seed sources passed identical randomness validation (Shannon entropy ≈ 1.0)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097280"/>
            <a:ext cx="2697480" cy="347472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12" name="Shape 10"/>
          <p:cNvSpPr/>
          <p:nvPr/>
        </p:nvSpPr>
        <p:spPr>
          <a:xfrm>
            <a:off x="6217920" y="1097280"/>
            <a:ext cx="2697480" cy="54864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1325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1783080"/>
            <a:ext cx="2331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to 20×20 mazes and one generation algorithm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VQR purely visual; no partial observability (LiDAR-based POMDP)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QRNG constrained by API rate limits (71,800 seeds)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Evidence</a:t>
            </a:r>
            <a:endParaRPr lang="en-US" sz="2800" dirty="0"/>
          </a:p>
        </p:txBody>
      </p:sp>
      <p:pic>
        <p:nvPicPr>
          <p:cNvPr id="3" name="Image 0" descr="/sessions/cool-compassionate-sagan/images/image4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68680"/>
            <a:ext cx="4389120" cy="4023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0" y="8686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A2C Training: Success Rate &amp; Rewards</a:t>
            </a:r>
            <a:endParaRPr lang="en-US" sz="1300" dirty="0"/>
          </a:p>
        </p:txBody>
      </p:sp>
      <p:pic>
        <p:nvPicPr>
          <p:cNvPr id="5" name="Image 1" descr="/sessions/cool-compassionate-sagan/images/image6-2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234440"/>
            <a:ext cx="3840480" cy="28346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29200" y="4206240"/>
            <a:ext cx="38404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4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5029200" y="4206240"/>
            <a:ext cx="54864" cy="7315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8" name="Text 4"/>
          <p:cNvSpPr/>
          <p:nvPr/>
        </p:nvSpPr>
        <p:spPr>
          <a:xfrm>
            <a:off x="5257800" y="42519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convex hull areas nearly identical: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PRNG = 0.0380  |  QRNG = 0.0341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distributions confirm no structural divergence.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680960" cy="1097280"/>
          </a:xfrm>
          <a:prstGeom prst="rect">
            <a:avLst/>
          </a:prstGeom>
          <a:solidFill>
            <a:srgbClr val="142D5A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51560"/>
            <a:ext cx="54864" cy="10972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1247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1: Structural Diversity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1124712"/>
            <a:ext cx="1828800" cy="256032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0" y="11247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to reject H₀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05840" y="14173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B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significant structural difference between PRNG and QRNG mazes.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B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Mann-Whitney: p=0.326, Permutation: p=0.1463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286000"/>
            <a:ext cx="7680960" cy="1097280"/>
          </a:xfrm>
          <a:prstGeom prst="rect">
            <a:avLst/>
          </a:prstGeom>
          <a:solidFill>
            <a:srgbClr val="142D5A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286000"/>
            <a:ext cx="54864" cy="10972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3591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2: Training Impact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2359152"/>
            <a:ext cx="1828800" cy="256032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23591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to reject H₀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05840" y="265176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B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seed conditions produced comparable training success rates and reward progression across A2C, DQN, and PPO over 32M timesteps.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3520440"/>
            <a:ext cx="7680960" cy="1097280"/>
          </a:xfrm>
          <a:prstGeom prst="rect">
            <a:avLst/>
          </a:prstGeom>
          <a:solidFill>
            <a:srgbClr val="142D5A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3520440"/>
            <a:ext cx="54864" cy="10972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5935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3: Generalization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0" y="3593592"/>
            <a:ext cx="1828800" cy="256032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3593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to reject H₀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05840" y="388620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B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generalization gaps within 11.6 percentage points across all architectures.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B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Seed-level randomness has no measurable impact on zero-shot generalization.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4572000"/>
            <a:ext cx="7680960" cy="411480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572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recursive backtracking algorithm — not the entropy source — is the critical bottleneck for structural diversity in procedural maze generation.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for Future 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65760" cy="36576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280160" y="1097280"/>
            <a:ext cx="71323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463040" y="1097280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QRNG directly in maze generation via custom Fisher-Yates shuffle — bypass the Mersenne Twister intermediary entirely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938528"/>
            <a:ext cx="365760" cy="36576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38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280160" y="1847088"/>
            <a:ext cx="71323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463040" y="1847088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alternative generation algorithms (Wilson's, Prim's) that impose fewer structural constraints on output diversity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688336"/>
            <a:ext cx="365760" cy="36576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688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280160" y="2596896"/>
            <a:ext cx="71323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463040" y="2596896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larger mazes (30×30, 40×40) where structural memorization becomes harder and seed entropy may matter more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438144"/>
            <a:ext cx="365760" cy="36576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438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280160" y="3346704"/>
            <a:ext cx="71323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463040" y="3346704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DQN with DRQN (recurrent variant) to fairly evaluate value-based methods under partial observability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4187952"/>
            <a:ext cx="365760" cy="36576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187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280160" y="4096512"/>
            <a:ext cx="71323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463040" y="4096512"/>
            <a:ext cx="6766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QRNG's training stability effect — the tighter PPO/A2C convergence clustering warrants study with 10+ trials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4123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3200400" y="2194560"/>
            <a:ext cx="2743200" cy="0"/>
          </a:xfrm>
          <a:prstGeom prst="line">
            <a:avLst/>
          </a:prstGeom>
          <a:noFill/>
          <a:ln w="31750">
            <a:solidFill>
              <a:srgbClr val="F2A9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4688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Antony, Aldrich Ryan V.  ·  Baricante, Mark Angelo R.  ·  Mirabel, Kevin Hans Aurick 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Adviser: John Richard M. Esguerra, MSCS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are ready for your questions.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960620"/>
            <a:ext cx="9144000" cy="9144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C4123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Enhancing Autonomous Navigation Robustness</dc:title>
  <dc:subject>PptxGenJS Presentation</dc:subject>
  <dc:creator>Antony, Baricante, Mirabel</dc:creator>
  <cp:lastModifiedBy>Antony, Baricante, Mirabel</cp:lastModifiedBy>
  <cp:revision>1</cp:revision>
  <dcterms:created xsi:type="dcterms:W3CDTF">2026-04-05T09:54:51Z</dcterms:created>
  <dcterms:modified xsi:type="dcterms:W3CDTF">2026-04-05T09:54:51Z</dcterms:modified>
</cp:coreProperties>
</file>